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2" userDrawn="1">
          <p15:clr>
            <a:srgbClr val="A4A3A4"/>
          </p15:clr>
        </p15:guide>
        <p15:guide id="2" pos="4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EB"/>
    <a:srgbClr val="FFFF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2877" autoAdjust="0"/>
  </p:normalViewPr>
  <p:slideViewPr>
    <p:cSldViewPr snapToGrid="0" showGuides="1">
      <p:cViewPr varScale="1">
        <p:scale>
          <a:sx n="55" d="100"/>
          <a:sy n="55" d="100"/>
        </p:scale>
        <p:origin x="1028" y="48"/>
      </p:cViewPr>
      <p:guideLst>
        <p:guide orient="horz" pos="232"/>
        <p:guide pos="43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5DDCA63-8A2F-4AAE-00D2-7E26F7B7F7A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IN"/>
              <a:t>ENIAC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84E4DD7-E35F-08C6-FA84-020DF5AA7DE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162FE5-F26F-4599-82DA-1E8FAB8DA64D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4D9E17-100C-96F3-C1CC-EC2E195A87E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Published by: Pavana Kumari (Data Analyst)</a:t>
            </a:r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2E3627-D6B6-5572-E0D1-3C4E39A426B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F540D0-B63E-4B36-8AAE-A6C01979B38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132863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IN"/>
              <a:t>ENIAC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538565-E97D-48A8-9481-4C0E85F22495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Published by: Pavana Kumari (Data Analyst)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35B289-99A3-4AC3-BA48-18BCACEEFD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29635168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IN" dirty="0"/>
              <a:t>Tech = ~21% of units sold, Tech sellers = ~26% of sellers, Tech sellers = ~53% of revenue, ~89% delivered on time, Late delivery strongly affects reviews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27716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Magist's activity is concentrated in major Brazilian regions, particularly São Paulo and the Southeast</a:t>
            </a:r>
          </a:p>
        </p:txBody>
      </p:sp>
    </p:spTree>
    <p:extLst>
      <p:ext uri="{BB962C8B-B14F-4D97-AF65-F5344CB8AC3E}">
        <p14:creationId xmlns:p14="http://schemas.microsoft.com/office/powerpoint/2010/main" val="25352656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Magist already has a meaningful technology business, and technology products have a higher average price than other products.</a:t>
            </a:r>
          </a:p>
        </p:txBody>
      </p:sp>
    </p:spTree>
    <p:extLst>
      <p:ext uri="{BB962C8B-B14F-4D97-AF65-F5344CB8AC3E}">
        <p14:creationId xmlns:p14="http://schemas.microsoft.com/office/powerpoint/2010/main" val="31237726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Technology sellers are a minority of sellers but contribute a disproportionately large share of revenue.</a:t>
            </a:r>
          </a:p>
        </p:txBody>
      </p:sp>
    </p:spTree>
    <p:extLst>
      <p:ext uri="{BB962C8B-B14F-4D97-AF65-F5344CB8AC3E}">
        <p14:creationId xmlns:p14="http://schemas.microsoft.com/office/powerpoint/2010/main" val="37714010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Most orders are delivered on time, but delays remain an important customer-experience risk.</a:t>
            </a:r>
          </a:p>
        </p:txBody>
      </p:sp>
    </p:spTree>
    <p:extLst>
      <p:ext uri="{BB962C8B-B14F-4D97-AF65-F5344CB8AC3E}">
        <p14:creationId xmlns:p14="http://schemas.microsoft.com/office/powerpoint/2010/main" val="17295041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Delayed deliveries have a substantial negative impact on customer satisfaction.</a:t>
            </a:r>
          </a:p>
        </p:txBody>
      </p:sp>
    </p:spTree>
    <p:extLst>
      <p:ext uri="{BB962C8B-B14F-4D97-AF65-F5344CB8AC3E}">
        <p14:creationId xmlns:p14="http://schemas.microsoft.com/office/powerpoint/2010/main" val="29841585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B5233-A884-5559-A44D-2D5C338B0C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AE27AA-6DBB-130F-49C5-88B045C93F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5DC51D-5F74-269F-478B-321F038B3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B3F8FA-6467-4932-A404-4F9CDB43B4FA}" type="datetime2">
              <a:rPr lang="en-IN" smtClean="0"/>
              <a:t>Wednesday, 19 August 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89F77D-8C18-8A38-E4A7-3156B9F8A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Published by: Pavana Kumari (Data Analyst)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73D82E-C487-EAD0-1509-56BC5A4FB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AF6746-DE6A-47C0-9A5F-0B44BC4FE58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172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D8C5F-40A6-80E0-26A7-19BECB914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377C07-F99E-8AC6-6FF2-E36540196C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B6AE74-D9DD-975E-E1B3-0FC58A358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05949-EEE4-4A61-8E6E-50814A8ADBF4}" type="datetime2">
              <a:rPr lang="en-IN" smtClean="0"/>
              <a:t>Wednesday, 19 August 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AD4EA8-9C25-A0CF-2774-7364C85AC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Published by: Pavana Kumari (Data Analyst)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2F0B9B-B64F-5626-0296-1C28FEAE76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AF6746-DE6A-47C0-9A5F-0B44BC4FE58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7760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92F99-5A4A-431D-E6D5-33EBFB9D6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2BECC4-21F9-A0E4-30A4-0360F0EEB9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8DEB77-5142-5839-3C68-FD655AEF6D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AB1ED9-0C45-445F-AE38-F735DC895300}" type="datetime2">
              <a:rPr lang="en-IN" smtClean="0"/>
              <a:t>Wednesday, 19 August 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C4769-BA48-D175-839D-C5F77075C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Published by: Pavana Kumari (Data Analyst)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FDBCE-AEA7-4D29-E84B-906A5FD85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AF6746-DE6A-47C0-9A5F-0B44BC4FE58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87965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1A4B6-6168-FB9D-771B-DE5EECE03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615BBB-D0D2-A351-869D-A9E5463DDD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9A3295-B389-CCA3-0118-DFED41DDA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07124-08FF-4E8B-9189-98A351A50F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24CA2-831D-417B-A402-E3BEAC258647}" type="datetime2">
              <a:rPr lang="en-IN" smtClean="0"/>
              <a:t>Wednesday, 19 August 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4C8B81-D034-20D1-D0DF-141BF8C10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Published by: Pavana Kumari (Data Analyst)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A8DF0E-1F22-CC25-56A7-C8B520D3F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AF6746-DE6A-47C0-9A5F-0B44BC4FE58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58678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98B03-0653-8A31-1DF7-E73CFE8AA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075125-C6CC-5DBB-C255-C3747E1599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5AEC2A-B7BB-53AA-F0F6-ADFA95C95B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A28288-2DA5-76D3-757D-38B1F1C2C5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2CC195-5A06-6B5C-86C9-1CA64F60D2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251B93-D8A3-A6DF-D6C4-AE17600D8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DF41E4-6DAB-45CE-BC0A-49AEE7095C05}" type="datetime2">
              <a:rPr lang="en-IN" smtClean="0"/>
              <a:t>Wednesday, 19 August 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576ED7-1C7D-6F01-6809-E2E2FB799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Published by: Pavana Kumari (Data Analyst)</a:t>
            </a:r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B2DCB9-642B-B9F0-58DC-5179ACCD6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AF6746-DE6A-47C0-9A5F-0B44BC4FE58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69657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A4618-E3D3-F2CA-229A-1CF09AF81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DBC34C-78ED-73B1-1189-20AC1938A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15BC1A-7871-4644-B650-4E1FC0512D12}" type="datetime2">
              <a:rPr lang="en-IN" smtClean="0"/>
              <a:t>Wednesday, 19 August 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0CEDFF-513B-92C1-55B1-AB7A4AB04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Published by: Pavana Kumari (Data Analyst)</a:t>
            </a:r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F04916-C8B6-D61D-71FB-A70B32932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AF6746-DE6A-47C0-9A5F-0B44BC4FE58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3573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99BFEA-9A94-2353-F84A-A9F6C2995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C96F58-3BDC-4E0F-A57C-AA156D57A8CC}" type="datetime2">
              <a:rPr lang="en-IN" smtClean="0"/>
              <a:t>Wednesday, 19 August 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34113D-09CF-2D8A-4A33-43640AF97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Published by: Pavana Kumari (Data Analyst)</a:t>
            </a:r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90B652-4CC1-D338-D490-30E4F9F5F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AF6746-DE6A-47C0-9A5F-0B44BC4FE58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09796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34B49-100B-CEAC-D010-B8FE1C9C7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D686A-09F7-6B01-82C6-AD04E6A14F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25BE5D-66DA-A980-2BDB-E29A8B0F76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BFB595-AABD-734E-33E7-AE941EE67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8287C-A570-4659-99CE-1622A3D252A0}" type="datetime2">
              <a:rPr lang="en-IN" smtClean="0"/>
              <a:t>Wednesday, 19 August 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B0E525-6724-BA71-BE94-3B5F0CC6C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Published by: Pavana Kumari (Data Analyst)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E1D1C3-6936-926E-2EE2-63BF5930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AF6746-DE6A-47C0-9A5F-0B44BC4FE58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9756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4401B-B083-B4D1-0B5F-8EDAB0EE4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D39B44B-C292-46A6-197F-5E613E11A4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3902C7-3BA1-32DE-2CB2-EF088038A7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712077-ACD9-3DBC-A078-5DE8ED2D0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5DC18-EB83-4DD8-99A6-FBA7AFFD8CA9}" type="datetime2">
              <a:rPr lang="en-IN" smtClean="0"/>
              <a:t>Wednesday, 19 August 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1F23DE-FE93-67CD-DD1F-A7F7DD029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Published by: Pavana Kumari (Data Analyst)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D4BDC3-4D6E-DD52-8394-122C7D062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AF6746-DE6A-47C0-9A5F-0B44BC4FE58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2706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F426B-BF5E-D46D-EC67-574266CD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3FE6D6-F764-9327-377C-C8AB8CE4A9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967FE0-8FD0-D1C4-541D-37484174BA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46F0B2-3651-4200-8025-D8CA2C86232F}" type="datetime2">
              <a:rPr lang="en-IN" smtClean="0"/>
              <a:t>Wednesday, 19 August 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C3F37D-0215-0F20-2568-15E8DC503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Published by: Pavana Kumari (Data Analyst)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3A59FE-5150-4BCE-57DA-E9C98DB16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AF6746-DE6A-47C0-9A5F-0B44BC4FE58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82900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D2FD27C-D76E-45CF-37A3-5405DDFAFF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F2F947-4072-0AA9-136F-1AD3782DB6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3FE853-B4F1-ADC3-ECA1-A35B86A5F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CA408E-E6D2-40F4-BE49-91FA09E51E02}" type="datetime2">
              <a:rPr lang="en-IN" smtClean="0"/>
              <a:t>Wednesday, 19 August 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BA434D-25A9-C70D-0ACD-4DA187251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Published by: Pavana Kumari (Data Analyst)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B32443-97AA-0374-DB87-41C8ACB2C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AF6746-DE6A-47C0-9A5F-0B44BC4FE58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89852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EB">
            <a:alpha val="5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F1CA76-3B50-28BA-0F65-03D059774F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F797C0-E61A-45E0-2FA7-38FA67B8E4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CB3DC-8257-9CFF-A5B9-F84B16F398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2783AB-0508-4103-B9AB-AA8DA5853B70}" type="datetime2">
              <a:rPr lang="en-IN" smtClean="0"/>
              <a:t>Wednesday, 19 August 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512218-9B74-93A7-E15D-D0468914D0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Published by: Pavana Kumari (Data Analyst)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3DD0A0-CD30-648C-8278-0BFF927183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AF6746-DE6A-47C0-9A5F-0B44BC4FE58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2442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38F1FD9-2DA4-E49E-6CCA-8584C55BF731}"/>
              </a:ext>
            </a:extLst>
          </p:cNvPr>
          <p:cNvSpPr txBox="1"/>
          <p:nvPr/>
        </p:nvSpPr>
        <p:spPr>
          <a:xfrm>
            <a:off x="0" y="834390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Magist - Eniac Analysis</a:t>
            </a:r>
            <a:endParaRPr lang="en-IN" sz="3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44D03F-925D-098D-2BDA-3E51599D6D71}"/>
              </a:ext>
            </a:extLst>
          </p:cNvPr>
          <p:cNvSpPr txBox="1"/>
          <p:nvPr/>
        </p:nvSpPr>
        <p:spPr>
          <a:xfrm>
            <a:off x="0" y="2519680"/>
            <a:ext cx="12192000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>
              <a:buNone/>
            </a:pPr>
            <a:r>
              <a:rPr lang="en-IN" sz="2800" b="1" dirty="0">
                <a:latin typeface="Calibri (Body)"/>
              </a:rPr>
              <a:t>Evaluating Magist as a fulfilment partner for</a:t>
            </a:r>
          </a:p>
          <a:p>
            <a:pPr marL="0" marR="0" indent="0" algn="ctr">
              <a:buNone/>
            </a:pPr>
            <a:endParaRPr lang="en-IN" sz="2800" b="1" dirty="0">
              <a:latin typeface="Calibri (Body)"/>
            </a:endParaRPr>
          </a:p>
          <a:p>
            <a:pPr marL="0" marR="0" indent="0" algn="ctr">
              <a:buNone/>
            </a:pPr>
            <a:r>
              <a:rPr lang="en-IN" sz="2800" b="1" dirty="0">
                <a:latin typeface="Calibri (Body)"/>
              </a:rPr>
              <a:t>ENIAC’s Brazilian expansion</a:t>
            </a:r>
          </a:p>
          <a:p>
            <a:pPr marL="0" marR="0" indent="0" algn="ctr">
              <a:buNone/>
            </a:pPr>
            <a:endParaRPr lang="en-IN" sz="2800" b="1" dirty="0">
              <a:latin typeface="Calibri (Body)"/>
            </a:endParaRPr>
          </a:p>
          <a:p>
            <a:pPr marL="0" marR="0" indent="0" algn="ctr">
              <a:buNone/>
            </a:pPr>
            <a:endParaRPr lang="en-IN" sz="2800" b="1" dirty="0">
              <a:latin typeface="Calibri (Body)"/>
            </a:endParaRPr>
          </a:p>
          <a:p>
            <a:pPr marL="0" marR="0" indent="0" algn="ctr">
              <a:buNone/>
            </a:pPr>
            <a:endParaRPr lang="en-IN" sz="2800" b="1" dirty="0">
              <a:latin typeface="Calibri (Body)"/>
            </a:endParaRPr>
          </a:p>
          <a:p>
            <a:pPr marL="0" marR="0" indent="0" algn="ctr">
              <a:buNone/>
            </a:pPr>
            <a:r>
              <a:rPr lang="en-IN" sz="1400" b="1" dirty="0">
                <a:latin typeface="Calibri (Body)"/>
              </a:rPr>
              <a:t>Published by: Pavana Kumari</a:t>
            </a:r>
          </a:p>
        </p:txBody>
      </p:sp>
    </p:spTree>
    <p:extLst>
      <p:ext uri="{BB962C8B-B14F-4D97-AF65-F5344CB8AC3E}">
        <p14:creationId xmlns:p14="http://schemas.microsoft.com/office/powerpoint/2010/main" val="13655964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4AE4A6C-A6CC-8712-B273-E100EF6B80C1}"/>
              </a:ext>
            </a:extLst>
          </p:cNvPr>
          <p:cNvSpPr txBox="1"/>
          <p:nvPr/>
        </p:nvSpPr>
        <p:spPr>
          <a:xfrm>
            <a:off x="708660" y="725170"/>
            <a:ext cx="11140440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b="1" dirty="0"/>
              <a:t>Business Problem:</a:t>
            </a:r>
            <a:endParaRPr lang="en-IN" sz="2400" b="1" dirty="0"/>
          </a:p>
          <a:p>
            <a:pPr marL="0" marR="0" indent="0" algn="just">
              <a:buNone/>
            </a:pPr>
            <a:endParaRPr lang="en-IN" sz="2400" b="1" dirty="0">
              <a:latin typeface="Calibri (Body)"/>
            </a:endParaRPr>
          </a:p>
          <a:p>
            <a:pPr marL="0" marR="0" indent="0" algn="just">
              <a:buNone/>
            </a:pPr>
            <a:r>
              <a:rPr lang="en-IN" sz="2400" b="1" dirty="0">
                <a:latin typeface="Calibri (Body)"/>
              </a:rPr>
              <a:t>Can Magist support ENIAC’s entry into Brazil?</a:t>
            </a:r>
          </a:p>
          <a:p>
            <a:pPr marL="0" marR="0" indent="0" algn="just">
              <a:buNone/>
            </a:pPr>
            <a:endParaRPr lang="en-IN" sz="2400" b="1" dirty="0">
              <a:latin typeface="Calibri (Body)"/>
            </a:endParaRPr>
          </a:p>
          <a:p>
            <a:pPr marR="0" algn="just"/>
            <a:r>
              <a:rPr lang="en-IN" sz="2400" b="1" dirty="0">
                <a:latin typeface="Calibri (Body)"/>
              </a:rPr>
              <a:t>1. Product Fit</a:t>
            </a:r>
          </a:p>
          <a:p>
            <a:pPr marR="0" algn="just"/>
            <a:r>
              <a:rPr lang="en-IN" sz="2400" b="1" dirty="0">
                <a:latin typeface="Calibri (Body)"/>
              </a:rPr>
              <a:t>Can Magist support high-end technology products?</a:t>
            </a:r>
          </a:p>
          <a:p>
            <a:pPr marR="0" algn="just"/>
            <a:endParaRPr lang="en-IN" sz="2400" b="1" dirty="0">
              <a:latin typeface="Calibri (Body)"/>
            </a:endParaRPr>
          </a:p>
          <a:p>
            <a:pPr marR="0" algn="just"/>
            <a:endParaRPr lang="en-IN" sz="2400" b="1" dirty="0">
              <a:latin typeface="Calibri (Body)"/>
            </a:endParaRPr>
          </a:p>
          <a:p>
            <a:pPr marR="0" algn="just"/>
            <a:r>
              <a:rPr lang="en-IN" sz="2400" b="1" dirty="0">
                <a:latin typeface="Calibri (Body)"/>
              </a:rPr>
              <a:t>2. Delivery Performance</a:t>
            </a:r>
          </a:p>
          <a:p>
            <a:pPr marR="0" algn="just"/>
            <a:r>
              <a:rPr lang="en-IN" sz="2400" b="1" dirty="0">
                <a:latin typeface="Calibri (Body)"/>
              </a:rPr>
              <a:t>Can Magist provide reliable delivery?</a:t>
            </a:r>
          </a:p>
        </p:txBody>
      </p:sp>
    </p:spTree>
    <p:extLst>
      <p:ext uri="{BB962C8B-B14F-4D97-AF65-F5344CB8AC3E}">
        <p14:creationId xmlns:p14="http://schemas.microsoft.com/office/powerpoint/2010/main" val="9607492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B0C9CF4-AB90-7B39-56CF-B489A089FE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0170" y="76200"/>
            <a:ext cx="9406890" cy="62712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9B40DE0-D4D4-BDB5-537A-50361EF1DBF1}"/>
              </a:ext>
            </a:extLst>
          </p:cNvPr>
          <p:cNvSpPr txBox="1"/>
          <p:nvPr/>
        </p:nvSpPr>
        <p:spPr>
          <a:xfrm>
            <a:off x="0" y="6412468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/>
              <a:t>Magist's activity is concentrated in major Brazilian regions, particularly São Paulo and the Southeast.</a:t>
            </a:r>
          </a:p>
        </p:txBody>
      </p:sp>
    </p:spTree>
    <p:extLst>
      <p:ext uri="{BB962C8B-B14F-4D97-AF65-F5344CB8AC3E}">
        <p14:creationId xmlns:p14="http://schemas.microsoft.com/office/powerpoint/2010/main" val="2812404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DF1E4CF-DC49-32B3-0179-1A31D8C64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8735" y="-1"/>
            <a:ext cx="9629775" cy="63463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F5FADB8-1849-EF23-8815-6F3FF8029552}"/>
              </a:ext>
            </a:extLst>
          </p:cNvPr>
          <p:cNvSpPr txBox="1"/>
          <p:nvPr/>
        </p:nvSpPr>
        <p:spPr>
          <a:xfrm>
            <a:off x="0" y="6412468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/>
              <a:t>Demand and seller activity are concentrated in similar regions, suggesting an established local ecosystem.</a:t>
            </a:r>
          </a:p>
        </p:txBody>
      </p:sp>
    </p:spTree>
    <p:extLst>
      <p:ext uri="{BB962C8B-B14F-4D97-AF65-F5344CB8AC3E}">
        <p14:creationId xmlns:p14="http://schemas.microsoft.com/office/powerpoint/2010/main" val="27995588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3CC25C9F-5E62-836D-46A1-8D90182EB2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015" y="0"/>
            <a:ext cx="9606915" cy="64236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AA1D2C6-0B73-9C24-0638-883883CC33A8}"/>
              </a:ext>
            </a:extLst>
          </p:cNvPr>
          <p:cNvSpPr txBox="1"/>
          <p:nvPr/>
        </p:nvSpPr>
        <p:spPr>
          <a:xfrm>
            <a:off x="0" y="6412468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/>
              <a:t>Demand and seller activity are concentrated in similar regions, suggesting an established local ecosystem.</a:t>
            </a:r>
          </a:p>
        </p:txBody>
      </p:sp>
    </p:spTree>
    <p:extLst>
      <p:ext uri="{BB962C8B-B14F-4D97-AF65-F5344CB8AC3E}">
        <p14:creationId xmlns:p14="http://schemas.microsoft.com/office/powerpoint/2010/main" val="3791522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6F85C30-6C78-4674-ED25-0DD02A96BF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963" y="225424"/>
            <a:ext cx="9776908" cy="6632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3014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2011B66-9ABC-2955-62A1-A24B085525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228" y="130043"/>
            <a:ext cx="10037610" cy="6727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038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C7A246C-7E0C-1F80-696A-BE7575938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382" y="225425"/>
            <a:ext cx="9895307" cy="6632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4145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1324ECD-BEB2-A2C0-1C89-5A73BFD4F3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710" y="173858"/>
            <a:ext cx="9959538" cy="668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0637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73C6B77-5E27-6F89-D801-3F9E02199DC9}"/>
              </a:ext>
            </a:extLst>
          </p:cNvPr>
          <p:cNvSpPr txBox="1"/>
          <p:nvPr/>
        </p:nvSpPr>
        <p:spPr>
          <a:xfrm>
            <a:off x="754380" y="382270"/>
            <a:ext cx="10675620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>
              <a:buNone/>
            </a:pPr>
            <a:r>
              <a:rPr lang="en-IN" sz="2400" b="1" dirty="0">
                <a:effectLst/>
                <a:latin typeface="Calibri (Body)"/>
              </a:rPr>
              <a:t>Recommendations:</a:t>
            </a:r>
          </a:p>
          <a:p>
            <a:pPr marL="0" marR="0" indent="0">
              <a:buNone/>
            </a:pPr>
            <a:endParaRPr lang="en-IN" sz="2400" dirty="0">
              <a:effectLst/>
              <a:latin typeface="Calibri (Body)"/>
            </a:endParaRPr>
          </a:p>
          <a:p>
            <a:pPr marL="0" marR="0" indent="0">
              <a:buNone/>
            </a:pPr>
            <a:r>
              <a:rPr lang="en-IN" sz="2400" dirty="0">
                <a:effectLst/>
                <a:latin typeface="Calibri (Body)"/>
              </a:rPr>
              <a:t>1. Customers are satisfied when delivery beats the (very generous) estimate — but that generosity may cost sales at checkout by scaring off buyers with long promised dates.</a:t>
            </a:r>
            <a:endParaRPr lang="en-IN" sz="5400" dirty="0">
              <a:effectLst/>
              <a:latin typeface="Calibri (Body)"/>
            </a:endParaRPr>
          </a:p>
          <a:p>
            <a:endParaRPr lang="en-IN" sz="2400" dirty="0">
              <a:effectLst/>
              <a:latin typeface="Calibri (Body)"/>
            </a:endParaRPr>
          </a:p>
          <a:p>
            <a:r>
              <a:rPr lang="en-IN" sz="2400" dirty="0">
                <a:effectLst/>
                <a:latin typeface="Calibri (Body)"/>
              </a:rPr>
              <a:t>2. </a:t>
            </a:r>
            <a:r>
              <a:rPr lang="en-US" sz="2400" dirty="0">
                <a:effectLst/>
                <a:latin typeface="Calibri (Body)"/>
              </a:rPr>
              <a:t>Overall, we believe Magist is a good partner for Eniac if they change their algorithm and make the estimated delivery time shorter.</a:t>
            </a:r>
          </a:p>
          <a:p>
            <a:endParaRPr lang="en-US" sz="2400" dirty="0">
              <a:latin typeface="Calibri (Body)"/>
            </a:endParaRPr>
          </a:p>
          <a:p>
            <a:endParaRPr lang="en-US" sz="2400" dirty="0">
              <a:latin typeface="Calibri (Body)"/>
            </a:endParaRPr>
          </a:p>
          <a:p>
            <a:endParaRPr lang="en-US" sz="2400" dirty="0">
              <a:latin typeface="Calibri (Body)"/>
            </a:endParaRPr>
          </a:p>
          <a:p>
            <a:endParaRPr lang="en-US" sz="2400" dirty="0">
              <a:latin typeface="Calibri (Body)"/>
            </a:endParaRPr>
          </a:p>
          <a:p>
            <a:endParaRPr lang="en-US" sz="2400" dirty="0">
              <a:latin typeface="Calibri (Body)"/>
            </a:endParaRPr>
          </a:p>
          <a:p>
            <a:pPr algn="ctr"/>
            <a:r>
              <a:rPr lang="en-US" sz="2800" b="1" dirty="0">
                <a:latin typeface="Calibri (Body)"/>
              </a:rPr>
              <a:t>ENIAC can sign the conditional contract with MAGIST.</a:t>
            </a:r>
            <a:endParaRPr lang="en-IN" sz="5400" b="1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3174850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284</Words>
  <Application>Microsoft Office PowerPoint</Application>
  <PresentationFormat>Widescreen</PresentationFormat>
  <Paragraphs>38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(Body)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Pentakota Pavana Kumari</dc:creator>
  <cp:lastModifiedBy>Pentakota Pavana Kumari</cp:lastModifiedBy>
  <cp:revision>9</cp:revision>
  <dcterms:created xsi:type="dcterms:W3CDTF">2026-08-18T21:38:46Z</dcterms:created>
  <dcterms:modified xsi:type="dcterms:W3CDTF">2026-08-18T23:36:56Z</dcterms:modified>
</cp:coreProperties>
</file>