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ShowLst>
    <p:custShow name="Custom Show 1" id="0">
      <p:sldLst>
        <p:sld r:id="rId5"/>
        <p:sld r:id="rId6"/>
      </p:sldLst>
    </p:custShow>
    <p:custShow name="Custom Show 2" id="1">
      <p:sldLst>
        <p:sld r:id="rId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B"/>
    <a:srgbClr val="FF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77" autoAdjust="0"/>
  </p:normalViewPr>
  <p:slideViewPr>
    <p:cSldViewPr snapToGrid="0" showGuides="1">
      <p:cViewPr varScale="1">
        <p:scale>
          <a:sx n="55" d="100"/>
          <a:sy n="55" d="100"/>
        </p:scale>
        <p:origin x="1028" y="48"/>
      </p:cViewPr>
      <p:guideLst>
        <p:guide orient="horz" pos="232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DDCA63-8A2F-4AAE-00D2-7E26F7B7F7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ENIAC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E4DD7-E35F-08C6-FA84-020DF5AA7D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62FE5-F26F-4599-82DA-1E8FAB8DA64D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D9E17-100C-96F3-C1CC-EC2E195A87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E3627-D6B6-5572-E0D1-3C4E39A42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540D0-B63E-4B36-8AAE-A6C01979B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2863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ENIAC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38565-E97D-48A8-9481-4C0E85F2249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5B289-99A3-4AC3-BA48-18BCACEEF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3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22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dirty="0"/>
              <a:t>Tech = ~21% of units sold, Tech sellers = ~26% of sellers, Tech sellers = ~53% of revenue, ~89% delivered on time, Late delivery strongly affects 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771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2535265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2045366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1638343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Tech = 21.45% of units sold, avg price R$130.43 vs R$118.09 non-tech — smaller volume, real premium.</a:t>
            </a:r>
          </a:p>
        </p:txBody>
      </p:sp>
    </p:spTree>
    <p:extLst>
      <p:ext uri="{BB962C8B-B14F-4D97-AF65-F5344CB8AC3E}">
        <p14:creationId xmlns:p14="http://schemas.microsoft.com/office/powerpoint/2010/main" val="3123772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26.5% of sellers, but 53% of revenue and ~3x the monthly income of non-tech sellers — Magist's strongest performers.</a:t>
            </a:r>
          </a:p>
        </p:txBody>
      </p:sp>
    </p:spTree>
    <p:extLst>
      <p:ext uri="{BB962C8B-B14F-4D97-AF65-F5344CB8AC3E}">
        <p14:creationId xmlns:p14="http://schemas.microsoft.com/office/powerpoint/2010/main" val="3771401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N" dirty="0"/>
              <a:t>89% on-time. Late orders see satisfaction drop sharply (4.3 → 2.3 review score). Weight shows no clear link to delay — good news for lightweight tech accessories.</a:t>
            </a:r>
          </a:p>
        </p:txBody>
      </p:sp>
    </p:spTree>
    <p:extLst>
      <p:ext uri="{BB962C8B-B14F-4D97-AF65-F5344CB8AC3E}">
        <p14:creationId xmlns:p14="http://schemas.microsoft.com/office/powerpoint/2010/main" val="172950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Orders consistently arrive before the estimate, but the estimate itself is long (~11.8-11.9 days of buffer, tech and non-tech alike). Risk is inflated checkout expectations, not actual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8415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5233-A884-5559-A44D-2D5C338B0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E27AA-6DBB-130F-49C5-88B045C9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DC51D-5F74-269F-478B-321F038B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F8FA-6467-4932-A404-4F9CDB43B4FA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9F77D-8C18-8A38-E4A7-3156B9F8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3D82E-C487-EAD0-1509-56BC5A4F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7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8C5F-40A6-80E0-26A7-19BECB91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C07-F99E-8AC6-6FF2-E3654019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AE74-D9DD-975E-E1B3-0FC58A35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5949-EEE4-4A61-8E6E-50814A8ADBF4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D4EA8-9C25-A0CF-2774-7364C85A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0B9B-B64F-5626-0296-1C28FEAE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2F99-5A4A-431D-E6D5-33EBFB9D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BECC4-21F9-A0E4-30A4-0360F0EE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EB77-5142-5839-3C68-FD655AEF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ED9-0C45-445F-AE38-F735DC895300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4769-BA48-D175-839D-C5F77075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DBCE-AEA7-4D29-E84B-906A5FD8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9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A4B6-6168-FB9D-771B-DE5EECE0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5BBB-D0D2-A351-869D-A9E5463DD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A3295-B389-CCA3-0118-DFED41DDA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07124-08FF-4E8B-9189-98A351A5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24CA2-831D-417B-A402-E3BEAC258647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C8B81-D034-20D1-D0DF-141BF8C1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8DF0E-1F22-CC25-56A7-C8B520D3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86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8B03-0653-8A31-1DF7-E73CFE8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75125-C6CC-5DBB-C255-C3747E15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AEC2A-B7BB-53AA-F0F6-ADFA95C95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28288-2DA5-76D3-757D-38B1F1C2C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CC195-5A06-6B5C-86C9-1CA64F60D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51B93-D8A3-A6DF-D6C4-AE17600D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41E4-6DAB-45CE-BC0A-49AEE7095C05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76ED7-1C7D-6F01-6809-E2E2FB799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2DCB9-642B-B9F0-58DC-5179ACCD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96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4618-E3D3-F2CA-229A-1CF09AF8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C34C-78ED-73B1-1189-20AC1938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C1A-7871-4644-B650-4E1FC0512D12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CEDFF-513B-92C1-55B1-AB7A4AB0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04916-C8B6-D61D-71FB-A70B3293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9BFEA-9A94-2353-F84A-A9F6C299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6F58-3BDC-4E0F-A57C-AA156D57A8CC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113D-09CF-2D8A-4A33-43640AF9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0B652-4CC1-D338-D490-30E4F9F5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9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4B49-100B-CEAC-D010-B8FE1C9C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686A-09F7-6B01-82C6-AD04E6A14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5BE5D-66DA-A980-2BDB-E29A8B0F7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FB595-AABD-734E-33E7-AE941EE6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287C-A570-4659-99CE-1622A3D252A0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0E525-6724-BA71-BE94-3B5F0CC6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1D1C3-6936-926E-2EE2-63BF5930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5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401B-B083-B4D1-0B5F-8EDAB0EE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9B44B-C292-46A6-197F-5E613E11A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902C7-3BA1-32DE-2CB2-EF088038A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12077-ACD9-3DBC-A078-5DE8ED2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DC18-EB83-4DD8-99A6-FBA7AFFD8CA9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F23DE-FE93-67CD-DD1F-A7F7DD02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4BDC3-4D6E-DD52-8394-122C7D06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426B-BF5E-D46D-EC67-574266CD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FE6D6-F764-9327-377C-C8AB8CE4A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67FE0-8FD0-D1C4-541D-37484174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6F0B2-3651-4200-8025-D8CA2C86232F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F37D-0215-0F20-2568-15E8DC50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A59FE-5150-4BCE-57DA-E9C98DB1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90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FD27C-D76E-45CF-37A3-5405DDFA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2F947-4072-0AA9-136F-1AD3782DB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FE853-B4F1-ADC3-ECA1-A35B86A5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408E-E6D2-40F4-BE49-91FA09E51E02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434D-25A9-C70D-0ACD-4DA18725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32443-97AA-0374-DB87-41C8ACB2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8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1CA76-3B50-28BA-0F65-03D05977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797C0-E61A-45E0-2FA7-38FA67B8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B3DC-8257-9CFF-A5B9-F84B16F39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783AB-0508-4103-B9AB-AA8DA5853B70}" type="datetime2">
              <a:rPr lang="en-IN" smtClean="0"/>
              <a:t>Wednesday, 19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12218-9B74-93A7-E15D-D0468914D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DD0A0-CD30-648C-8278-0BFF92718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44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8F1FD9-2DA4-E49E-6CCA-8584C55BF731}"/>
              </a:ext>
            </a:extLst>
          </p:cNvPr>
          <p:cNvSpPr txBox="1"/>
          <p:nvPr/>
        </p:nvSpPr>
        <p:spPr>
          <a:xfrm>
            <a:off x="0" y="83439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Magist - Eniac Analysis</a:t>
            </a:r>
            <a:endParaRPr lang="en-IN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4D03F-925D-098D-2BDA-3E51599D6D71}"/>
              </a:ext>
            </a:extLst>
          </p:cNvPr>
          <p:cNvSpPr txBox="1"/>
          <p:nvPr/>
        </p:nvSpPr>
        <p:spPr>
          <a:xfrm>
            <a:off x="0" y="2519680"/>
            <a:ext cx="1219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800" b="1" dirty="0">
                <a:latin typeface="Calibri (Body)"/>
              </a:rPr>
              <a:t>Evaluating Magist as a fulfilment partner for</a:t>
            </a: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r>
              <a:rPr lang="en-IN" sz="2800" b="1" dirty="0">
                <a:latin typeface="Calibri (Body)"/>
              </a:rPr>
              <a:t>ENIAC’s Brazilian expansion</a:t>
            </a: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r>
              <a:rPr lang="en-IN" sz="1400" b="1" dirty="0">
                <a:latin typeface="Calibri (Body)"/>
              </a:rPr>
              <a:t>Published by: Pavana Kumari</a:t>
            </a:r>
          </a:p>
        </p:txBody>
      </p:sp>
    </p:spTree>
    <p:extLst>
      <p:ext uri="{BB962C8B-B14F-4D97-AF65-F5344CB8AC3E}">
        <p14:creationId xmlns:p14="http://schemas.microsoft.com/office/powerpoint/2010/main" val="1365596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4AE4A6C-A6CC-8712-B273-E100EF6B80C1}"/>
              </a:ext>
            </a:extLst>
          </p:cNvPr>
          <p:cNvSpPr txBox="1"/>
          <p:nvPr/>
        </p:nvSpPr>
        <p:spPr>
          <a:xfrm>
            <a:off x="710979" y="368300"/>
            <a:ext cx="111404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Business Problem:</a:t>
            </a:r>
            <a:endParaRPr lang="en-IN" sz="2400" b="1" dirty="0"/>
          </a:p>
          <a:p>
            <a:pPr marL="0" marR="0" indent="0" algn="just">
              <a:buNone/>
            </a:pPr>
            <a:endParaRPr lang="en-IN" sz="2400" b="1" dirty="0">
              <a:latin typeface="Calibri (Body)"/>
            </a:endParaRPr>
          </a:p>
          <a:p>
            <a:pPr marL="0" marR="0" indent="0" algn="just">
              <a:buNone/>
            </a:pPr>
            <a:r>
              <a:rPr lang="en-IN" sz="2400" b="1" dirty="0">
                <a:latin typeface="Calibri (Body)"/>
              </a:rPr>
              <a:t>1. Can Magist support ENIAC’s entry into Brazil?</a:t>
            </a:r>
          </a:p>
          <a:p>
            <a:pPr marL="0" marR="0" indent="0" algn="just">
              <a:buNone/>
            </a:pPr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2. Product Fit: Can Magist support high-end technology products?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3. Tech Sellers: Can Tech sellers do good business with Magist?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4. Delivery Performance: Can Magist provide reliable delivery?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5. Delivery risk?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ctr"/>
            <a:r>
              <a:rPr lang="en-US" sz="2400" b="1" dirty="0">
                <a:latin typeface="Calibri (Body)"/>
              </a:rPr>
              <a:t>ENIAC can sign the conditional contract with MAGIST</a:t>
            </a:r>
            <a:endParaRPr lang="en-IN" sz="2400" b="1" dirty="0">
              <a:latin typeface="Calibri (Body)"/>
            </a:endParaRPr>
          </a:p>
        </p:txBody>
      </p:sp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DE00BEDD-3E57-E4B2-1631-B97DD55911A9}"/>
              </a:ext>
            </a:extLst>
          </p:cNvPr>
          <p:cNvSpPr/>
          <p:nvPr/>
        </p:nvSpPr>
        <p:spPr>
          <a:xfrm>
            <a:off x="695325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Geographic</a:t>
            </a:r>
          </a:p>
        </p:txBody>
      </p:sp>
      <p:sp>
        <p:nvSpPr>
          <p:cNvPr id="6" name="Rectangle: Rounded Corners 5">
            <a:hlinkClick r:id="rId4" action="ppaction://hlinksldjump"/>
            <a:extLst>
              <a:ext uri="{FF2B5EF4-FFF2-40B4-BE49-F238E27FC236}">
                <a16:creationId xmlns:a16="http://schemas.microsoft.com/office/drawing/2014/main" id="{2882D11C-88F1-E6FC-046A-87621368C6E7}"/>
              </a:ext>
            </a:extLst>
          </p:cNvPr>
          <p:cNvSpPr/>
          <p:nvPr/>
        </p:nvSpPr>
        <p:spPr>
          <a:xfrm>
            <a:off x="3000618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Product Fit</a:t>
            </a:r>
          </a:p>
        </p:txBody>
      </p:sp>
      <p:sp>
        <p:nvSpPr>
          <p:cNvPr id="8" name="Rectangle: Rounded Corners 7">
            <a:hlinkClick r:id="rId5" action="ppaction://hlinksldjump"/>
            <a:extLst>
              <a:ext uri="{FF2B5EF4-FFF2-40B4-BE49-F238E27FC236}">
                <a16:creationId xmlns:a16="http://schemas.microsoft.com/office/drawing/2014/main" id="{F9322131-2CE3-D2F5-806F-F7CC01CD331E}"/>
              </a:ext>
            </a:extLst>
          </p:cNvPr>
          <p:cNvSpPr/>
          <p:nvPr/>
        </p:nvSpPr>
        <p:spPr>
          <a:xfrm>
            <a:off x="5309347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Seller Perf.</a:t>
            </a:r>
          </a:p>
        </p:txBody>
      </p:sp>
      <p:sp>
        <p:nvSpPr>
          <p:cNvPr id="10" name="Rectangle: Rounded Corners 9">
            <a:hlinkClick r:id="rId6" action="ppaction://hlinksldjump"/>
            <a:extLst>
              <a:ext uri="{FF2B5EF4-FFF2-40B4-BE49-F238E27FC236}">
                <a16:creationId xmlns:a16="http://schemas.microsoft.com/office/drawing/2014/main" id="{EE774D6A-60BD-2F9E-9E55-C92924198932}"/>
              </a:ext>
            </a:extLst>
          </p:cNvPr>
          <p:cNvSpPr/>
          <p:nvPr/>
        </p:nvSpPr>
        <p:spPr>
          <a:xfrm>
            <a:off x="7655571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Delivery Perf.</a:t>
            </a:r>
          </a:p>
        </p:txBody>
      </p:sp>
      <p:sp>
        <p:nvSpPr>
          <p:cNvPr id="13" name="Rectangle: Rounded Corners 12">
            <a:hlinkClick r:id="rId7" action="ppaction://hlinksldjump"/>
            <a:extLst>
              <a:ext uri="{FF2B5EF4-FFF2-40B4-BE49-F238E27FC236}">
                <a16:creationId xmlns:a16="http://schemas.microsoft.com/office/drawing/2014/main" id="{AE46466C-A304-86F5-B89B-49EAF7F96CBA}"/>
              </a:ext>
            </a:extLst>
          </p:cNvPr>
          <p:cNvSpPr/>
          <p:nvPr/>
        </p:nvSpPr>
        <p:spPr>
          <a:xfrm>
            <a:off x="10001795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Delivery Risk</a:t>
            </a:r>
          </a:p>
        </p:txBody>
      </p:sp>
    </p:spTree>
    <p:extLst>
      <p:ext uri="{BB962C8B-B14F-4D97-AF65-F5344CB8AC3E}">
        <p14:creationId xmlns:p14="http://schemas.microsoft.com/office/powerpoint/2010/main" val="96074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0C9CF4-AB90-7B39-56CF-B489A089F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70" y="76200"/>
            <a:ext cx="9406890" cy="627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F1E4CF-DC49-32B3-0179-1A31D8C6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35" y="-1"/>
            <a:ext cx="9629775" cy="634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5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C25C9F-5E62-836D-46A1-8D90182E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" y="0"/>
            <a:ext cx="9606915" cy="6423606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1780AF0-0D0D-3AD0-ED75-4098E5F4928E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2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F85C30-6C78-4674-ED25-0DD02A96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225424"/>
            <a:ext cx="9776908" cy="6632575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7DD8935-FD9C-9968-42C8-9CE50CC31BB4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301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011B66-9ABC-2955-62A1-A24B0855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28" y="130043"/>
            <a:ext cx="10037610" cy="6727957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A4D81CB-035D-C8C2-3173-525F4B0C51AA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3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7A246C-7E0C-1F80-696A-BE7575938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82" y="225425"/>
            <a:ext cx="9895307" cy="6632575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CC50CF0-5DA1-317B-8DEF-1662E6B7C4EA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1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324ECD-BEB2-A2C0-1C89-5A73BFD4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0" y="173858"/>
            <a:ext cx="9959538" cy="6684142"/>
          </a:xfrm>
          <a:prstGeom prst="rect">
            <a:avLst/>
          </a:prstGeom>
        </p:spPr>
      </p:pic>
      <p:sp>
        <p:nvSpPr>
          <p:cNvPr id="3" name="Action Button: Go to End 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D7A9C43-6794-362B-1E12-E622154602C4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6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3C6B77-5E27-6F89-D801-3F9E02199DC9}"/>
              </a:ext>
            </a:extLst>
          </p:cNvPr>
          <p:cNvSpPr txBox="1"/>
          <p:nvPr/>
        </p:nvSpPr>
        <p:spPr>
          <a:xfrm>
            <a:off x="754380" y="382270"/>
            <a:ext cx="1067562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 :</a:t>
            </a:r>
          </a:p>
          <a:p>
            <a:r>
              <a:rPr lang="en-IN" sz="2400" dirty="0"/>
              <a:t>Magist is a strong operational fit for Eniac: an established Southeast ecosystem, a real tech price premium, and tech sellers that outperform the platform average. Delivery is reliable in practice — the only weak point is a delivery estimate that's longer than performance justifies, which could discourage premium buyers at checkout.</a:t>
            </a:r>
          </a:p>
          <a:p>
            <a:endParaRPr lang="en-IN" sz="2400" dirty="0"/>
          </a:p>
          <a:p>
            <a:r>
              <a:rPr lang="en-IN" sz="2400" b="1" dirty="0"/>
              <a:t>Recommendation:</a:t>
            </a:r>
          </a:p>
          <a:p>
            <a:r>
              <a:rPr lang="en-IN" sz="2400" dirty="0"/>
              <a:t>Proceed with a </a:t>
            </a:r>
            <a:r>
              <a:rPr lang="en-IN" sz="2400" b="1" dirty="0"/>
              <a:t>conditional 3-year partnership</a:t>
            </a:r>
            <a:r>
              <a:rPr lang="en-IN" sz="2400" dirty="0"/>
              <a:t>, contingent on Magist tightening its estimated-delivery algorithm to better reflect actual (faster) performance.</a:t>
            </a:r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pPr algn="ctr"/>
            <a:r>
              <a:rPr lang="en-US" sz="2800" b="1" dirty="0">
                <a:latin typeface="Calibri (Body)"/>
              </a:rPr>
              <a:t>ENIAC can sign the conditional contract with MAGIST</a:t>
            </a:r>
            <a:endParaRPr lang="en-IN" sz="54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7485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402</Words>
  <Application>Microsoft Office PowerPoint</Application>
  <PresentationFormat>Widescreen</PresentationFormat>
  <Paragraphs>46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2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  <vt:lpstr>Custom Show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Pentakota Pavana Kumari</dc:creator>
  <cp:lastModifiedBy>Pentakota Pavana Kumari</cp:lastModifiedBy>
  <cp:revision>13</cp:revision>
  <dcterms:created xsi:type="dcterms:W3CDTF">2026-08-18T21:38:46Z</dcterms:created>
  <dcterms:modified xsi:type="dcterms:W3CDTF">2026-08-19T17:59:54Z</dcterms:modified>
</cp:coreProperties>
</file>